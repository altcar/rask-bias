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steps. We scanned 2,484 Kaggle resumes and matched them to 120 US LinkedIn postings. A pretrained MiniLM sentence encoder scores how well a CV matches a job. We audited it with counterfactual twins: the same CV with only gender, city or degree changed. Location changed 15% of decisions, so we added a LEACE eraser, a closed-form linear layer, and shipped both versions in one ONNX model behind a Streamlit app.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Offline, Python scripts scan the data, audit the original model, fit the LEACE eraser and export a single ONNX file with two outputs: the original embedding and the debiased one. Online, the Streamlit app reads a CV PDF or text and a job description, builds six what-if twins of the CV (three regions times two genders), runs everything through ONNX Runtime and shows the original and debiased decisions side by side, flagging bias when the decision changes. Across the dataset, location flips fell from 15.3 to 10.4 percent with matching quality unchanged; the remaining gap is non-linear and is our next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3816" y="502920"/>
            <a:ext cx="10515600" cy="320040"/>
          </a:xfrm>
          <a:prstGeom prst="rect">
            <a:avLst/>
          </a:prstGeom>
          <a:noFill/>
        </p:spPr>
        <p:txBody>
          <a:bodyPr wrap="square" anchor="t" lIns="0" rIns="0" tIns="0" bIns="0">
            <a:spAutoFit/>
          </a:bodyPr>
          <a:lstStyle/>
          <a:p>
            <a:pPr>
              <a:spcAft>
                <a:spcPts val="400"/>
              </a:spcAft>
            </a:pPr>
            <a:r>
              <a:rPr sz="1200" b="1">
                <a:solidFill>
                  <a:srgbClr val="2563C9"/>
                </a:solidFill>
                <a:latin typeface="Courier New"/>
              </a:rPr>
              <a:t>RASK-BIAS · END TO END</a:t>
            </a:r>
          </a:p>
        </p:txBody>
      </p:sp>
      <p:sp>
        <p:nvSpPr>
          <p:cNvPr id="3" name="TextBox 2"/>
          <p:cNvSpPr txBox="1"/>
          <p:nvPr/>
        </p:nvSpPr>
        <p:spPr>
          <a:xfrm>
            <a:off x="813816" y="804672"/>
            <a:ext cx="10607040" cy="731520"/>
          </a:xfrm>
          <a:prstGeom prst="rect">
            <a:avLst/>
          </a:prstGeom>
          <a:noFill/>
        </p:spPr>
        <p:txBody>
          <a:bodyPr wrap="square" anchor="t" lIns="0" rIns="0" tIns="0" bIns="0">
            <a:spAutoFit/>
          </a:bodyPr>
          <a:lstStyle/>
          <a:p>
            <a:pPr>
              <a:spcAft>
                <a:spcPts val="400"/>
              </a:spcAft>
            </a:pPr>
            <a:r>
              <a:rPr sz="3400" b="1">
                <a:solidFill>
                  <a:srgbClr val="12182B"/>
                </a:solidFill>
                <a:latin typeface="Calibri"/>
              </a:rPr>
              <a:t>Fair CV screening, from raw data to a live app</a:t>
            </a:r>
          </a:p>
        </p:txBody>
      </p:sp>
      <p:sp>
        <p:nvSpPr>
          <p:cNvPr id="4" name="Rounded Rectangle 3"/>
          <p:cNvSpPr/>
          <p:nvPr/>
        </p:nvSpPr>
        <p:spPr>
          <a:xfrm>
            <a:off x="813816" y="1828800"/>
            <a:ext cx="1746504" cy="1645920"/>
          </a:xfrm>
          <a:prstGeom prst="roundRect">
            <a:avLst>
              <a:gd name="adj" fmla="val 8000"/>
            </a:avLst>
          </a:prstGeom>
          <a:solidFill>
            <a:srgbClr val="FDFCF9"/>
          </a:solidFill>
          <a:ln w="12700">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56816"/>
            <a:ext cx="1453895" cy="1389888"/>
          </a:xfrm>
          <a:prstGeom prst="rect">
            <a:avLst/>
          </a:prstGeom>
          <a:noFill/>
        </p:spPr>
        <p:txBody>
          <a:bodyPr wrap="square" anchor="t" lIns="0" rIns="0" tIns="0" bIns="0">
            <a:spAutoFit/>
          </a:bodyPr>
          <a:lstStyle/>
          <a:p>
            <a:pPr>
              <a:spcAft>
                <a:spcPts val="200"/>
              </a:spcAft>
            </a:pPr>
            <a:r>
              <a:rPr sz="1200" b="1">
                <a:solidFill>
                  <a:srgbClr val="2563C9"/>
                </a:solidFill>
                <a:latin typeface="Courier New"/>
              </a:rPr>
              <a:t>01</a:t>
            </a:r>
          </a:p>
          <a:p>
            <a:pPr>
              <a:spcAft>
                <a:spcPts val="400"/>
              </a:spcAft>
            </a:pPr>
            <a:r>
              <a:rPr sz="2000" b="1">
                <a:solidFill>
                  <a:srgbClr val="12182B"/>
                </a:solidFill>
                <a:latin typeface="Calibri"/>
              </a:rPr>
              <a:t>Scan</a:t>
            </a:r>
          </a:p>
          <a:p>
            <a:pPr>
              <a:spcAft>
                <a:spcPts val="400"/>
              </a:spcAft>
            </a:pPr>
            <a:r>
              <a:rPr sz="1400" b="0">
                <a:solidFill>
                  <a:srgbClr val="4A5163"/>
                </a:solidFill>
                <a:latin typeface="Calibri"/>
              </a:rPr>
              <a:t>2,484 Kaggle CVs and 120 US LinkedIn jobs</a:t>
            </a:r>
          </a:p>
        </p:txBody>
      </p:sp>
      <p:sp>
        <p:nvSpPr>
          <p:cNvPr id="6" name="Right Arrow 5"/>
          <p:cNvSpPr/>
          <p:nvPr/>
        </p:nvSpPr>
        <p:spPr>
          <a:xfrm>
            <a:off x="2660903" y="2578608"/>
            <a:ext cx="256032" cy="146304"/>
          </a:xfrm>
          <a:prstGeom prst="rightArrow">
            <a:avLst/>
          </a:prstGeom>
          <a:solidFill>
            <a:srgbClr val="9AA3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017520" y="1828800"/>
            <a:ext cx="1746504" cy="1645920"/>
          </a:xfrm>
          <a:prstGeom prst="roundRect">
            <a:avLst>
              <a:gd name="adj" fmla="val 8000"/>
            </a:avLst>
          </a:prstGeom>
          <a:solidFill>
            <a:srgbClr val="FDFCF9"/>
          </a:solidFill>
          <a:ln w="12700">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63824" y="1956816"/>
            <a:ext cx="1453895" cy="1389888"/>
          </a:xfrm>
          <a:prstGeom prst="rect">
            <a:avLst/>
          </a:prstGeom>
          <a:noFill/>
        </p:spPr>
        <p:txBody>
          <a:bodyPr wrap="square" anchor="t" lIns="0" rIns="0" tIns="0" bIns="0">
            <a:spAutoFit/>
          </a:bodyPr>
          <a:lstStyle/>
          <a:p>
            <a:pPr>
              <a:spcAft>
                <a:spcPts val="200"/>
              </a:spcAft>
            </a:pPr>
            <a:r>
              <a:rPr sz="1200" b="1">
                <a:solidFill>
                  <a:srgbClr val="2563C9"/>
                </a:solidFill>
                <a:latin typeface="Courier New"/>
              </a:rPr>
              <a:t>02</a:t>
            </a:r>
          </a:p>
          <a:p>
            <a:pPr>
              <a:spcAft>
                <a:spcPts val="400"/>
              </a:spcAft>
            </a:pPr>
            <a:r>
              <a:rPr sz="2000" b="1">
                <a:solidFill>
                  <a:srgbClr val="12182B"/>
                </a:solidFill>
                <a:latin typeface="Calibri"/>
              </a:rPr>
              <a:t>Score</a:t>
            </a:r>
          </a:p>
          <a:p>
            <a:pPr>
              <a:spcAft>
                <a:spcPts val="400"/>
              </a:spcAft>
            </a:pPr>
            <a:r>
              <a:rPr sz="1400" b="0">
                <a:solidFill>
                  <a:srgbClr val="4A5163"/>
                </a:solidFill>
                <a:latin typeface="Calibri"/>
              </a:rPr>
              <a:t>MiniLM embeds CV and job; cosine is the match</a:t>
            </a:r>
          </a:p>
        </p:txBody>
      </p:sp>
      <p:sp>
        <p:nvSpPr>
          <p:cNvPr id="9" name="Right Arrow 8"/>
          <p:cNvSpPr/>
          <p:nvPr/>
        </p:nvSpPr>
        <p:spPr>
          <a:xfrm>
            <a:off x="4864608" y="2578608"/>
            <a:ext cx="256032" cy="146304"/>
          </a:xfrm>
          <a:prstGeom prst="rightArrow">
            <a:avLst/>
          </a:prstGeom>
          <a:solidFill>
            <a:srgbClr val="9AA3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21224" y="1828800"/>
            <a:ext cx="1746504" cy="1645920"/>
          </a:xfrm>
          <a:prstGeom prst="roundRect">
            <a:avLst>
              <a:gd name="adj" fmla="val 8000"/>
            </a:avLst>
          </a:prstGeom>
          <a:solidFill>
            <a:srgbClr val="FDFCF9"/>
          </a:solidFill>
          <a:ln w="12700">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67528" y="1956816"/>
            <a:ext cx="1453895" cy="1389888"/>
          </a:xfrm>
          <a:prstGeom prst="rect">
            <a:avLst/>
          </a:prstGeom>
          <a:noFill/>
        </p:spPr>
        <p:txBody>
          <a:bodyPr wrap="square" anchor="t" lIns="0" rIns="0" tIns="0" bIns="0">
            <a:spAutoFit/>
          </a:bodyPr>
          <a:lstStyle/>
          <a:p>
            <a:pPr>
              <a:spcAft>
                <a:spcPts val="200"/>
              </a:spcAft>
            </a:pPr>
            <a:r>
              <a:rPr sz="1200" b="1">
                <a:solidFill>
                  <a:srgbClr val="2563C9"/>
                </a:solidFill>
                <a:latin typeface="Courier New"/>
              </a:rPr>
              <a:t>03</a:t>
            </a:r>
          </a:p>
          <a:p>
            <a:pPr>
              <a:spcAft>
                <a:spcPts val="400"/>
              </a:spcAft>
            </a:pPr>
            <a:r>
              <a:rPr sz="2000" b="1">
                <a:solidFill>
                  <a:srgbClr val="12182B"/>
                </a:solidFill>
                <a:latin typeface="Calibri"/>
              </a:rPr>
              <a:t>Audit</a:t>
            </a:r>
          </a:p>
          <a:p>
            <a:pPr>
              <a:spcAft>
                <a:spcPts val="400"/>
              </a:spcAft>
            </a:pPr>
            <a:r>
              <a:rPr sz="1400" b="0">
                <a:solidFill>
                  <a:srgbClr val="4A5163"/>
                </a:solidFill>
                <a:latin typeface="Calibri"/>
              </a:rPr>
              <a:t>Same CV, only gender, city or degree swapped</a:t>
            </a:r>
          </a:p>
        </p:txBody>
      </p:sp>
      <p:sp>
        <p:nvSpPr>
          <p:cNvPr id="12" name="Right Arrow 11"/>
          <p:cNvSpPr/>
          <p:nvPr/>
        </p:nvSpPr>
        <p:spPr>
          <a:xfrm>
            <a:off x="7068312" y="2578608"/>
            <a:ext cx="256032" cy="146304"/>
          </a:xfrm>
          <a:prstGeom prst="rightArrow">
            <a:avLst/>
          </a:prstGeom>
          <a:solidFill>
            <a:srgbClr val="9AA3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24928" y="1828800"/>
            <a:ext cx="1746504" cy="1645920"/>
          </a:xfrm>
          <a:prstGeom prst="roundRect">
            <a:avLst>
              <a:gd name="adj" fmla="val 8000"/>
            </a:avLst>
          </a:prstGeom>
          <a:solidFill>
            <a:srgbClr val="FDFCF9"/>
          </a:solidFill>
          <a:ln w="12700">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71232" y="1956816"/>
            <a:ext cx="1453895" cy="1389888"/>
          </a:xfrm>
          <a:prstGeom prst="rect">
            <a:avLst/>
          </a:prstGeom>
          <a:noFill/>
        </p:spPr>
        <p:txBody>
          <a:bodyPr wrap="square" anchor="t" lIns="0" rIns="0" tIns="0" bIns="0">
            <a:spAutoFit/>
          </a:bodyPr>
          <a:lstStyle/>
          <a:p>
            <a:pPr>
              <a:spcAft>
                <a:spcPts val="200"/>
              </a:spcAft>
            </a:pPr>
            <a:r>
              <a:rPr sz="1200" b="1">
                <a:solidFill>
                  <a:srgbClr val="2563C9"/>
                </a:solidFill>
                <a:latin typeface="Courier New"/>
              </a:rPr>
              <a:t>04</a:t>
            </a:r>
          </a:p>
          <a:p>
            <a:pPr>
              <a:spcAft>
                <a:spcPts val="400"/>
              </a:spcAft>
            </a:pPr>
            <a:r>
              <a:rPr sz="2000" b="1">
                <a:solidFill>
                  <a:srgbClr val="12182B"/>
                </a:solidFill>
                <a:latin typeface="Calibri"/>
              </a:rPr>
              <a:t>Debias</a:t>
            </a:r>
          </a:p>
          <a:p>
            <a:pPr>
              <a:spcAft>
                <a:spcPts val="400"/>
              </a:spcAft>
            </a:pPr>
            <a:r>
              <a:rPr sz="1400" b="0">
                <a:solidFill>
                  <a:srgbClr val="4A5163"/>
                </a:solidFill>
                <a:latin typeface="Calibri"/>
              </a:rPr>
              <a:t>LEACE erases location and gender signal</a:t>
            </a:r>
          </a:p>
        </p:txBody>
      </p:sp>
      <p:sp>
        <p:nvSpPr>
          <p:cNvPr id="15" name="Right Arrow 14"/>
          <p:cNvSpPr/>
          <p:nvPr/>
        </p:nvSpPr>
        <p:spPr>
          <a:xfrm>
            <a:off x="9272016" y="2578608"/>
            <a:ext cx="256032" cy="146304"/>
          </a:xfrm>
          <a:prstGeom prst="rightArrow">
            <a:avLst/>
          </a:prstGeom>
          <a:solidFill>
            <a:srgbClr val="9AA3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628632" y="1828800"/>
            <a:ext cx="1746504" cy="1645920"/>
          </a:xfrm>
          <a:prstGeom prst="roundRect">
            <a:avLst>
              <a:gd name="adj" fmla="val 8000"/>
            </a:avLst>
          </a:prstGeom>
          <a:solidFill>
            <a:srgbClr val="FDFCF9"/>
          </a:solidFill>
          <a:ln w="12700">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74936" y="1956816"/>
            <a:ext cx="1453895" cy="1389888"/>
          </a:xfrm>
          <a:prstGeom prst="rect">
            <a:avLst/>
          </a:prstGeom>
          <a:noFill/>
        </p:spPr>
        <p:txBody>
          <a:bodyPr wrap="square" anchor="t" lIns="0" rIns="0" tIns="0" bIns="0">
            <a:spAutoFit/>
          </a:bodyPr>
          <a:lstStyle/>
          <a:p>
            <a:pPr>
              <a:spcAft>
                <a:spcPts val="200"/>
              </a:spcAft>
            </a:pPr>
            <a:r>
              <a:rPr sz="1200" b="1">
                <a:solidFill>
                  <a:srgbClr val="2563C9"/>
                </a:solidFill>
                <a:latin typeface="Courier New"/>
              </a:rPr>
              <a:t>05</a:t>
            </a:r>
          </a:p>
          <a:p>
            <a:pPr>
              <a:spcAft>
                <a:spcPts val="400"/>
              </a:spcAft>
            </a:pPr>
            <a:r>
              <a:rPr sz="2000" b="1">
                <a:solidFill>
                  <a:srgbClr val="12182B"/>
                </a:solidFill>
                <a:latin typeface="Calibri"/>
              </a:rPr>
              <a:t>Ship</a:t>
            </a:r>
          </a:p>
          <a:p>
            <a:pPr>
              <a:spcAft>
                <a:spcPts val="400"/>
              </a:spcAft>
            </a:pPr>
            <a:r>
              <a:rPr sz="1400" b="0">
                <a:solidFill>
                  <a:srgbClr val="4A5163"/>
                </a:solidFill>
                <a:latin typeface="Calibri"/>
              </a:rPr>
              <a:t>One ONNX model inside a Streamlit app</a:t>
            </a:r>
          </a:p>
        </p:txBody>
      </p:sp>
      <p:sp>
        <p:nvSpPr>
          <p:cNvPr id="18" name="Rounded Rectangle 17"/>
          <p:cNvSpPr/>
          <p:nvPr/>
        </p:nvSpPr>
        <p:spPr>
          <a:xfrm>
            <a:off x="813816" y="3794760"/>
            <a:ext cx="3337560" cy="2377440"/>
          </a:xfrm>
          <a:prstGeom prst="roundRect">
            <a:avLst>
              <a:gd name="adj" fmla="val 6000"/>
            </a:avLst>
          </a:prstGeom>
          <a:solidFill>
            <a:srgbClr val="FDFCF9"/>
          </a:solidFill>
          <a:ln w="12700">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2416" y="3995928"/>
            <a:ext cx="2880360" cy="731520"/>
          </a:xfrm>
          <a:prstGeom prst="rect">
            <a:avLst/>
          </a:prstGeom>
          <a:noFill/>
        </p:spPr>
        <p:txBody>
          <a:bodyPr wrap="square" anchor="t" lIns="0" rIns="0" tIns="0" bIns="0">
            <a:spAutoFit/>
          </a:bodyPr>
          <a:lstStyle/>
          <a:p>
            <a:pPr>
              <a:spcAft>
                <a:spcPts val="400"/>
              </a:spcAft>
            </a:pPr>
            <a:r>
              <a:rPr sz="1200" b="1">
                <a:solidFill>
                  <a:srgbClr val="B9501E"/>
                </a:solidFill>
                <a:latin typeface="Courier New"/>
              </a:rPr>
              <a:t>THE MODEL</a:t>
            </a:r>
          </a:p>
          <a:p>
            <a:pPr>
              <a:spcAft>
                <a:spcPts val="400"/>
              </a:spcAft>
            </a:pPr>
            <a:r>
              <a:rPr sz="2000" b="1">
                <a:solidFill>
                  <a:srgbClr val="12182B"/>
                </a:solidFill>
                <a:latin typeface="Calibri"/>
              </a:rPr>
              <a:t>all-MiniLM-L6-v2</a:t>
            </a:r>
          </a:p>
        </p:txBody>
      </p:sp>
      <p:sp>
        <p:nvSpPr>
          <p:cNvPr id="20" name="TextBox 19"/>
          <p:cNvSpPr txBox="1"/>
          <p:nvPr/>
        </p:nvSpPr>
        <p:spPr>
          <a:xfrm>
            <a:off x="1042416" y="4663440"/>
            <a:ext cx="2880360" cy="1463040"/>
          </a:xfrm>
          <a:prstGeom prst="rect">
            <a:avLst/>
          </a:prstGeom>
          <a:noFill/>
        </p:spPr>
        <p:txBody>
          <a:bodyPr wrap="square" anchor="t" lIns="0" rIns="0" tIns="0" bIns="0">
            <a:spAutoFit/>
          </a:bodyPr>
          <a:lstStyle/>
          <a:p>
            <a:pPr>
              <a:spcAft>
                <a:spcPts val="600"/>
              </a:spcAft>
            </a:pPr>
            <a:r>
              <a:rPr sz="1400" b="0">
                <a:solidFill>
                  <a:srgbClr val="4A5163"/>
                </a:solidFill>
                <a:latin typeface="Calibri"/>
              </a:rPr>
              <a:t>•  6-layer encoder, 384-d vectors</a:t>
            </a:r>
          </a:p>
          <a:p>
            <a:pPr>
              <a:spcAft>
                <a:spcPts val="600"/>
              </a:spcAft>
            </a:pPr>
            <a:r>
              <a:rPr sz="1400" b="0">
                <a:solidFill>
                  <a:srgbClr val="4A5163"/>
                </a:solidFill>
                <a:latin typeface="Calibri"/>
              </a:rPr>
              <a:t>•  CVs split into 180-word chunks</a:t>
            </a:r>
          </a:p>
          <a:p>
            <a:pPr>
              <a:spcAft>
                <a:spcPts val="600"/>
              </a:spcAft>
            </a:pPr>
            <a:r>
              <a:rPr sz="1400" b="0">
                <a:solidFill>
                  <a:srgbClr val="4A5163"/>
                </a:solidFill>
                <a:latin typeface="Calibri"/>
              </a:rPr>
              <a:t>•  PASS if cosine ≥ 0.436 (AUC 0.78)</a:t>
            </a:r>
          </a:p>
        </p:txBody>
      </p:sp>
      <p:sp>
        <p:nvSpPr>
          <p:cNvPr id="21" name="Rounded Rectangle 20"/>
          <p:cNvSpPr/>
          <p:nvPr/>
        </p:nvSpPr>
        <p:spPr>
          <a:xfrm>
            <a:off x="4425696" y="3794760"/>
            <a:ext cx="3337560" cy="2377440"/>
          </a:xfrm>
          <a:prstGeom prst="roundRect">
            <a:avLst>
              <a:gd name="adj" fmla="val 6000"/>
            </a:avLst>
          </a:prstGeom>
          <a:solidFill>
            <a:srgbClr val="FDFCF9"/>
          </a:solidFill>
          <a:ln w="12700">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54296" y="3995928"/>
            <a:ext cx="2880360" cy="731520"/>
          </a:xfrm>
          <a:prstGeom prst="rect">
            <a:avLst/>
          </a:prstGeom>
          <a:noFill/>
        </p:spPr>
        <p:txBody>
          <a:bodyPr wrap="square" anchor="t" lIns="0" rIns="0" tIns="0" bIns="0">
            <a:spAutoFit/>
          </a:bodyPr>
          <a:lstStyle/>
          <a:p>
            <a:pPr>
              <a:spcAft>
                <a:spcPts val="400"/>
              </a:spcAft>
            </a:pPr>
            <a:r>
              <a:rPr sz="1200" b="1">
                <a:solidFill>
                  <a:srgbClr val="2563C9"/>
                </a:solidFill>
                <a:latin typeface="Courier New"/>
              </a:rPr>
              <a:t>THE DEBIAS LAYER</a:t>
            </a:r>
          </a:p>
          <a:p>
            <a:pPr>
              <a:spcAft>
                <a:spcPts val="400"/>
              </a:spcAft>
            </a:pPr>
            <a:r>
              <a:rPr sz="2000" b="1">
                <a:solidFill>
                  <a:srgbClr val="12182B"/>
                </a:solidFill>
                <a:latin typeface="Calibri"/>
              </a:rPr>
              <a:t>LEACE concept erasure</a:t>
            </a:r>
          </a:p>
        </p:txBody>
      </p:sp>
      <p:sp>
        <p:nvSpPr>
          <p:cNvPr id="23" name="TextBox 22"/>
          <p:cNvSpPr txBox="1"/>
          <p:nvPr/>
        </p:nvSpPr>
        <p:spPr>
          <a:xfrm>
            <a:off x="4654296" y="4663440"/>
            <a:ext cx="2880360" cy="1463040"/>
          </a:xfrm>
          <a:prstGeom prst="rect">
            <a:avLst/>
          </a:prstGeom>
          <a:noFill/>
        </p:spPr>
        <p:txBody>
          <a:bodyPr wrap="square" anchor="t" lIns="0" rIns="0" tIns="0" bIns="0">
            <a:spAutoFit/>
          </a:bodyPr>
          <a:lstStyle/>
          <a:p>
            <a:pPr>
              <a:spcAft>
                <a:spcPts val="600"/>
              </a:spcAft>
            </a:pPr>
            <a:r>
              <a:rPr sz="1400" b="0">
                <a:solidFill>
                  <a:srgbClr val="4A5163"/>
                </a:solidFill>
                <a:latin typeface="Calibri"/>
              </a:rPr>
              <a:t>•  Closed form: x′ = x·A + b</a:t>
            </a:r>
          </a:p>
          <a:p>
            <a:pPr>
              <a:spcAft>
                <a:spcPts val="600"/>
              </a:spcAft>
            </a:pPr>
            <a:r>
              <a:rPr sz="1400" b="0">
                <a:solidFill>
                  <a:srgbClr val="4A5163"/>
                </a:solidFill>
                <a:latin typeface="Calibri"/>
              </a:rPr>
              <a:t>•  Fitted on 33 cities, both genders</a:t>
            </a:r>
          </a:p>
          <a:p>
            <a:pPr>
              <a:spcAft>
                <a:spcPts val="600"/>
              </a:spcAft>
            </a:pPr>
            <a:r>
              <a:rPr sz="1400" b="0">
                <a:solidFill>
                  <a:srgbClr val="4A5163"/>
                </a:solidFill>
                <a:latin typeface="Calibri"/>
              </a:rPr>
              <a:t>•  Belrose et al., 2023</a:t>
            </a:r>
          </a:p>
        </p:txBody>
      </p:sp>
      <p:sp>
        <p:nvSpPr>
          <p:cNvPr id="24" name="Rounded Rectangle 23"/>
          <p:cNvSpPr/>
          <p:nvPr/>
        </p:nvSpPr>
        <p:spPr>
          <a:xfrm>
            <a:off x="8037575" y="3794760"/>
            <a:ext cx="3337560" cy="2377440"/>
          </a:xfrm>
          <a:prstGeom prst="roundRect">
            <a:avLst>
              <a:gd name="adj" fmla="val 6000"/>
            </a:avLst>
          </a:prstGeom>
          <a:solidFill>
            <a:srgbClr val="121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66175" y="3995928"/>
            <a:ext cx="2880360" cy="320040"/>
          </a:xfrm>
          <a:prstGeom prst="rect">
            <a:avLst/>
          </a:prstGeom>
          <a:noFill/>
        </p:spPr>
        <p:txBody>
          <a:bodyPr wrap="square" anchor="t" lIns="0" rIns="0" tIns="0" bIns="0">
            <a:spAutoFit/>
          </a:bodyPr>
          <a:lstStyle/>
          <a:p>
            <a:pPr>
              <a:spcAft>
                <a:spcPts val="400"/>
              </a:spcAft>
            </a:pPr>
            <a:r>
              <a:rPr sz="1200" b="1">
                <a:solidFill>
                  <a:srgbClr val="B9C2D6"/>
                </a:solidFill>
                <a:latin typeface="Courier New"/>
              </a:rPr>
              <a:t>LOCATION DECISION FLIPS</a:t>
            </a:r>
          </a:p>
        </p:txBody>
      </p:sp>
      <p:sp>
        <p:nvSpPr>
          <p:cNvPr id="26" name="TextBox 25"/>
          <p:cNvSpPr txBox="1"/>
          <p:nvPr/>
        </p:nvSpPr>
        <p:spPr>
          <a:xfrm>
            <a:off x="8266175" y="4480560"/>
            <a:ext cx="1325880" cy="640080"/>
          </a:xfrm>
          <a:prstGeom prst="rect">
            <a:avLst/>
          </a:prstGeom>
          <a:noFill/>
        </p:spPr>
        <p:txBody>
          <a:bodyPr wrap="square" anchor="ctr" lIns="0" rIns="0" tIns="0" bIns="0">
            <a:spAutoFit/>
          </a:bodyPr>
          <a:lstStyle/>
          <a:p>
            <a:pPr>
              <a:spcAft>
                <a:spcPts val="400"/>
              </a:spcAft>
            </a:pPr>
            <a:r>
              <a:rPr sz="3200" b="1">
                <a:solidFill>
                  <a:srgbClr val="F08A4B"/>
                </a:solidFill>
                <a:latin typeface="Calibri"/>
              </a:rPr>
              <a:t>15.3%</a:t>
            </a:r>
          </a:p>
        </p:txBody>
      </p:sp>
      <p:sp>
        <p:nvSpPr>
          <p:cNvPr id="27" name="Right Arrow 26"/>
          <p:cNvSpPr/>
          <p:nvPr/>
        </p:nvSpPr>
        <p:spPr>
          <a:xfrm>
            <a:off x="9573767" y="4709160"/>
            <a:ext cx="310896" cy="182880"/>
          </a:xfrm>
          <a:prstGeom prst="rightArrow">
            <a:avLst/>
          </a:prstGeom>
          <a:solidFill>
            <a:srgbClr val="B9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76104" y="4480560"/>
            <a:ext cx="1325880" cy="640080"/>
          </a:xfrm>
          <a:prstGeom prst="rect">
            <a:avLst/>
          </a:prstGeom>
          <a:noFill/>
        </p:spPr>
        <p:txBody>
          <a:bodyPr wrap="square" anchor="ctr" lIns="0" rIns="0" tIns="0" bIns="0">
            <a:spAutoFit/>
          </a:bodyPr>
          <a:lstStyle/>
          <a:p>
            <a:pPr>
              <a:spcAft>
                <a:spcPts val="400"/>
              </a:spcAft>
            </a:pPr>
            <a:r>
              <a:rPr sz="3200" b="1">
                <a:solidFill>
                  <a:srgbClr val="6FA3F2"/>
                </a:solidFill>
                <a:latin typeface="Calibri"/>
              </a:rPr>
              <a:t>10.4%</a:t>
            </a:r>
          </a:p>
        </p:txBody>
      </p:sp>
      <p:sp>
        <p:nvSpPr>
          <p:cNvPr id="29" name="TextBox 28"/>
          <p:cNvSpPr txBox="1"/>
          <p:nvPr/>
        </p:nvSpPr>
        <p:spPr>
          <a:xfrm>
            <a:off x="8266175" y="5257800"/>
            <a:ext cx="2880360" cy="685800"/>
          </a:xfrm>
          <a:prstGeom prst="rect">
            <a:avLst/>
          </a:prstGeom>
          <a:noFill/>
        </p:spPr>
        <p:txBody>
          <a:bodyPr wrap="square" anchor="t" lIns="0" rIns="0" tIns="0" bIns="0">
            <a:spAutoFit/>
          </a:bodyPr>
          <a:lstStyle/>
          <a:p>
            <a:pPr>
              <a:spcAft>
                <a:spcPts val="400"/>
              </a:spcAft>
            </a:pPr>
            <a:r>
              <a:rPr sz="1400" b="0">
                <a:solidFill>
                  <a:srgbClr val="B9C2D6"/>
                </a:solidFill>
                <a:latin typeface="Calibri"/>
              </a:rPr>
              <a:t>Before → after debias. Matching AUC kept: 0.784 → 0.780</a:t>
            </a:r>
          </a:p>
        </p:txBody>
      </p:sp>
      <p:sp>
        <p:nvSpPr>
          <p:cNvPr id="30" name="TextBox 29"/>
          <p:cNvSpPr txBox="1"/>
          <p:nvPr/>
        </p:nvSpPr>
        <p:spPr>
          <a:xfrm>
            <a:off x="813816" y="6291072"/>
            <a:ext cx="10607040" cy="274320"/>
          </a:xfrm>
          <a:prstGeom prst="rect">
            <a:avLst/>
          </a:prstGeom>
          <a:noFill/>
        </p:spPr>
        <p:txBody>
          <a:bodyPr wrap="square" anchor="t" lIns="0" rIns="0" tIns="0" bIns="0">
            <a:spAutoFit/>
          </a:bodyPr>
          <a:lstStyle/>
          <a:p>
            <a:pPr>
              <a:spcAft>
                <a:spcPts val="400"/>
              </a:spcAft>
            </a:pPr>
            <a:r>
              <a:rPr sz="1100" b="0">
                <a:solidFill>
                  <a:srgbClr val="7A8091"/>
                </a:solidFill>
                <a:latin typeface="Calibri"/>
              </a:rPr>
              <a:t>RASK-bias · UoB Datathon · 1 /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82B"/>
        </a:solidFill>
        <a:effectLst/>
      </p:bgPr>
    </p:bg>
    <p:spTree>
      <p:nvGrpSpPr>
        <p:cNvPr id="1" name=""/>
        <p:cNvGrpSpPr/>
        <p:nvPr/>
      </p:nvGrpSpPr>
      <p:grpSpPr/>
      <p:sp>
        <p:nvSpPr>
          <p:cNvPr id="2" name="TextBox 1"/>
          <p:cNvSpPr txBox="1"/>
          <p:nvPr/>
        </p:nvSpPr>
        <p:spPr>
          <a:xfrm>
            <a:off x="813816" y="502920"/>
            <a:ext cx="10515600" cy="320040"/>
          </a:xfrm>
          <a:prstGeom prst="rect">
            <a:avLst/>
          </a:prstGeom>
          <a:noFill/>
        </p:spPr>
        <p:txBody>
          <a:bodyPr wrap="square" anchor="t" lIns="0" rIns="0" tIns="0" bIns="0">
            <a:spAutoFit/>
          </a:bodyPr>
          <a:lstStyle/>
          <a:p>
            <a:pPr>
              <a:spcAft>
                <a:spcPts val="400"/>
              </a:spcAft>
            </a:pPr>
            <a:r>
              <a:rPr sz="1200" b="1">
                <a:solidFill>
                  <a:srgbClr val="6FA3F2"/>
                </a:solidFill>
                <a:latin typeface="Courier New"/>
              </a:rPr>
              <a:t>WEBSITE ARCHITECTURE</a:t>
            </a:r>
          </a:p>
        </p:txBody>
      </p:sp>
      <p:sp>
        <p:nvSpPr>
          <p:cNvPr id="3" name="TextBox 2"/>
          <p:cNvSpPr txBox="1"/>
          <p:nvPr/>
        </p:nvSpPr>
        <p:spPr>
          <a:xfrm>
            <a:off x="813816" y="804672"/>
            <a:ext cx="10607040" cy="731520"/>
          </a:xfrm>
          <a:prstGeom prst="rect">
            <a:avLst/>
          </a:prstGeom>
          <a:noFill/>
        </p:spPr>
        <p:txBody>
          <a:bodyPr wrap="square" anchor="t" lIns="0" rIns="0" tIns="0" bIns="0">
            <a:spAutoFit/>
          </a:bodyPr>
          <a:lstStyle/>
          <a:p>
            <a:pPr>
              <a:spcAft>
                <a:spcPts val="400"/>
              </a:spcAft>
            </a:pPr>
            <a:r>
              <a:rPr sz="3400" b="1">
                <a:solidFill>
                  <a:srgbClr val="EEF0F5"/>
                </a:solidFill>
                <a:latin typeface="Calibri"/>
              </a:rPr>
              <a:t>Built once offline, served by one ONNX model</a:t>
            </a:r>
          </a:p>
        </p:txBody>
      </p:sp>
      <p:sp>
        <p:nvSpPr>
          <p:cNvPr id="4" name="TextBox 3"/>
          <p:cNvSpPr txBox="1"/>
          <p:nvPr/>
        </p:nvSpPr>
        <p:spPr>
          <a:xfrm>
            <a:off x="813816" y="2103120"/>
            <a:ext cx="1280160" cy="731520"/>
          </a:xfrm>
          <a:prstGeom prst="rect">
            <a:avLst/>
          </a:prstGeom>
          <a:noFill/>
        </p:spPr>
        <p:txBody>
          <a:bodyPr wrap="square" anchor="t" lIns="0" rIns="0" tIns="0" bIns="0">
            <a:spAutoFit/>
          </a:bodyPr>
          <a:lstStyle/>
          <a:p>
            <a:pPr>
              <a:spcAft>
                <a:spcPts val="200"/>
              </a:spcAft>
            </a:pPr>
            <a:r>
              <a:rPr sz="2000" b="1">
                <a:solidFill>
                  <a:srgbClr val="F08A4B"/>
                </a:solidFill>
                <a:latin typeface="Calibri"/>
              </a:rPr>
              <a:t>Offline</a:t>
            </a:r>
          </a:p>
          <a:p>
            <a:pPr>
              <a:spcAft>
                <a:spcPts val="400"/>
              </a:spcAft>
            </a:pPr>
            <a:r>
              <a:rPr sz="1200" b="0">
                <a:solidFill>
                  <a:srgbClr val="B9C2D6"/>
                </a:solidFill>
                <a:latin typeface="Calibri"/>
              </a:rPr>
              <a:t>Python, runs once</a:t>
            </a:r>
          </a:p>
        </p:txBody>
      </p:sp>
      <p:sp>
        <p:nvSpPr>
          <p:cNvPr id="5" name="Rounded Rectangle 4"/>
          <p:cNvSpPr/>
          <p:nvPr/>
        </p:nvSpPr>
        <p:spPr>
          <a:xfrm>
            <a:off x="2194560" y="1874519"/>
            <a:ext cx="1517904" cy="1234440"/>
          </a:xfrm>
          <a:prstGeom prst="roundRect">
            <a:avLst>
              <a:gd name="adj" fmla="val 8000"/>
            </a:avLst>
          </a:prstGeom>
          <a:solidFill>
            <a:srgbClr val="1C2540"/>
          </a:solidFill>
          <a:ln w="12700">
            <a:solidFill>
              <a:srgbClr val="2E3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322576" y="2002536"/>
            <a:ext cx="1261872" cy="978408"/>
          </a:xfrm>
          <a:prstGeom prst="rect">
            <a:avLst/>
          </a:prstGeom>
          <a:noFill/>
        </p:spPr>
        <p:txBody>
          <a:bodyPr wrap="square" anchor="t" lIns="0" rIns="0" tIns="0" bIns="0">
            <a:spAutoFit/>
          </a:bodyPr>
          <a:lstStyle/>
          <a:p>
            <a:pPr>
              <a:spcAft>
                <a:spcPts val="400"/>
              </a:spcAft>
            </a:pPr>
            <a:r>
              <a:rPr sz="1300" b="1">
                <a:solidFill>
                  <a:srgbClr val="EEF0F5"/>
                </a:solidFill>
                <a:latin typeface="Courier New"/>
              </a:rPr>
              <a:t>data.py</a:t>
            </a:r>
          </a:p>
          <a:p>
            <a:pPr>
              <a:spcAft>
                <a:spcPts val="400"/>
              </a:spcAft>
            </a:pPr>
            <a:r>
              <a:rPr sz="1400" b="0">
                <a:solidFill>
                  <a:srgbClr val="B9C2D6"/>
                </a:solidFill>
                <a:latin typeface="Calibri"/>
              </a:rPr>
              <a:t>CVs + US jobs</a:t>
            </a:r>
          </a:p>
        </p:txBody>
      </p:sp>
      <p:sp>
        <p:nvSpPr>
          <p:cNvPr id="7" name="Right Arrow 6"/>
          <p:cNvSpPr/>
          <p:nvPr/>
        </p:nvSpPr>
        <p:spPr>
          <a:xfrm>
            <a:off x="3790187" y="2418587"/>
            <a:ext cx="256032" cy="146304"/>
          </a:xfrm>
          <a:prstGeom prst="rightArrow">
            <a:avLst/>
          </a:prstGeom>
          <a:solidFill>
            <a:srgbClr val="5B6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23944" y="1874519"/>
            <a:ext cx="1517904" cy="1234440"/>
          </a:xfrm>
          <a:prstGeom prst="roundRect">
            <a:avLst>
              <a:gd name="adj" fmla="val 8000"/>
            </a:avLst>
          </a:prstGeom>
          <a:solidFill>
            <a:srgbClr val="1C2540"/>
          </a:solidFill>
          <a:ln w="12700">
            <a:solidFill>
              <a:srgbClr val="2E3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51959" y="2002536"/>
            <a:ext cx="1261872" cy="978408"/>
          </a:xfrm>
          <a:prstGeom prst="rect">
            <a:avLst/>
          </a:prstGeom>
          <a:noFill/>
        </p:spPr>
        <p:txBody>
          <a:bodyPr wrap="square" anchor="t" lIns="0" rIns="0" tIns="0" bIns="0">
            <a:spAutoFit/>
          </a:bodyPr>
          <a:lstStyle/>
          <a:p>
            <a:pPr>
              <a:spcAft>
                <a:spcPts val="400"/>
              </a:spcAft>
            </a:pPr>
            <a:r>
              <a:rPr sz="1300" b="1">
                <a:solidFill>
                  <a:srgbClr val="EEF0F5"/>
                </a:solidFill>
                <a:latin typeface="Courier New"/>
              </a:rPr>
              <a:t>scan.py</a:t>
            </a:r>
          </a:p>
          <a:p>
            <a:pPr>
              <a:spcAft>
                <a:spcPts val="400"/>
              </a:spcAft>
            </a:pPr>
            <a:r>
              <a:rPr sz="1400" b="0">
                <a:solidFill>
                  <a:srgbClr val="B9C2D6"/>
                </a:solidFill>
                <a:latin typeface="Calibri"/>
              </a:rPr>
              <a:t>Gender, location, degree cues</a:t>
            </a:r>
          </a:p>
        </p:txBody>
      </p:sp>
      <p:sp>
        <p:nvSpPr>
          <p:cNvPr id="10" name="Right Arrow 9"/>
          <p:cNvSpPr/>
          <p:nvPr/>
        </p:nvSpPr>
        <p:spPr>
          <a:xfrm>
            <a:off x="5719572" y="2418587"/>
            <a:ext cx="256032" cy="146304"/>
          </a:xfrm>
          <a:prstGeom prst="rightArrow">
            <a:avLst/>
          </a:prstGeom>
          <a:solidFill>
            <a:srgbClr val="5B6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53327" y="1874519"/>
            <a:ext cx="1517904" cy="1234440"/>
          </a:xfrm>
          <a:prstGeom prst="roundRect">
            <a:avLst>
              <a:gd name="adj" fmla="val 8000"/>
            </a:avLst>
          </a:prstGeom>
          <a:solidFill>
            <a:srgbClr val="1C2540"/>
          </a:solidFill>
          <a:ln w="12700">
            <a:solidFill>
              <a:srgbClr val="2E3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1343" y="2002536"/>
            <a:ext cx="1261872" cy="978408"/>
          </a:xfrm>
          <a:prstGeom prst="rect">
            <a:avLst/>
          </a:prstGeom>
          <a:noFill/>
        </p:spPr>
        <p:txBody>
          <a:bodyPr wrap="square" anchor="t" lIns="0" rIns="0" tIns="0" bIns="0">
            <a:spAutoFit/>
          </a:bodyPr>
          <a:lstStyle/>
          <a:p>
            <a:pPr>
              <a:spcAft>
                <a:spcPts val="400"/>
              </a:spcAft>
            </a:pPr>
            <a:r>
              <a:rPr sz="1300" b="1">
                <a:solidFill>
                  <a:srgbClr val="EEF0F5"/>
                </a:solidFill>
                <a:latin typeface="Courier New"/>
              </a:rPr>
              <a:t>audit.py</a:t>
            </a:r>
          </a:p>
          <a:p>
            <a:pPr>
              <a:spcAft>
                <a:spcPts val="400"/>
              </a:spcAft>
            </a:pPr>
            <a:r>
              <a:rPr sz="1400" b="0">
                <a:solidFill>
                  <a:srgbClr val="B9C2D6"/>
                </a:solidFill>
                <a:latin typeface="Calibri"/>
              </a:rPr>
              <a:t>Twins, thresholds, metrics</a:t>
            </a:r>
          </a:p>
        </p:txBody>
      </p:sp>
      <p:sp>
        <p:nvSpPr>
          <p:cNvPr id="13" name="Right Arrow 12"/>
          <p:cNvSpPr/>
          <p:nvPr/>
        </p:nvSpPr>
        <p:spPr>
          <a:xfrm>
            <a:off x="7648956" y="2418587"/>
            <a:ext cx="256032" cy="146304"/>
          </a:xfrm>
          <a:prstGeom prst="rightArrow">
            <a:avLst/>
          </a:prstGeom>
          <a:solidFill>
            <a:srgbClr val="5B6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982712" y="1874519"/>
            <a:ext cx="1517904" cy="1234440"/>
          </a:xfrm>
          <a:prstGeom prst="roundRect">
            <a:avLst>
              <a:gd name="adj" fmla="val 8000"/>
            </a:avLst>
          </a:prstGeom>
          <a:solidFill>
            <a:srgbClr val="1C2540"/>
          </a:solidFill>
          <a:ln w="12700">
            <a:solidFill>
              <a:srgbClr val="2E3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10728" y="2002536"/>
            <a:ext cx="1261872" cy="978408"/>
          </a:xfrm>
          <a:prstGeom prst="rect">
            <a:avLst/>
          </a:prstGeom>
          <a:noFill/>
        </p:spPr>
        <p:txBody>
          <a:bodyPr wrap="square" anchor="t" lIns="0" rIns="0" tIns="0" bIns="0">
            <a:spAutoFit/>
          </a:bodyPr>
          <a:lstStyle/>
          <a:p>
            <a:pPr>
              <a:spcAft>
                <a:spcPts val="400"/>
              </a:spcAft>
            </a:pPr>
            <a:r>
              <a:rPr sz="1300" b="1">
                <a:solidFill>
                  <a:srgbClr val="EEF0F5"/>
                </a:solidFill>
                <a:latin typeface="Courier New"/>
              </a:rPr>
              <a:t>debias.py</a:t>
            </a:r>
          </a:p>
          <a:p>
            <a:pPr>
              <a:spcAft>
                <a:spcPts val="400"/>
              </a:spcAft>
            </a:pPr>
            <a:r>
              <a:rPr sz="1400" b="0">
                <a:solidFill>
                  <a:srgbClr val="B9C2D6"/>
                </a:solidFill>
                <a:latin typeface="Calibri"/>
              </a:rPr>
              <a:t>Fit the LEACE eraser</a:t>
            </a:r>
          </a:p>
        </p:txBody>
      </p:sp>
      <p:sp>
        <p:nvSpPr>
          <p:cNvPr id="16" name="Right Arrow 15"/>
          <p:cNvSpPr/>
          <p:nvPr/>
        </p:nvSpPr>
        <p:spPr>
          <a:xfrm>
            <a:off x="9578340" y="2418587"/>
            <a:ext cx="256032" cy="146304"/>
          </a:xfrm>
          <a:prstGeom prst="rightArrow">
            <a:avLst/>
          </a:prstGeom>
          <a:solidFill>
            <a:srgbClr val="5B6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912096" y="1874519"/>
            <a:ext cx="1517904" cy="1234440"/>
          </a:xfrm>
          <a:prstGeom prst="roundRect">
            <a:avLst>
              <a:gd name="adj" fmla="val 8000"/>
            </a:avLst>
          </a:prstGeom>
          <a:solidFill>
            <a:srgbClr val="1C2540"/>
          </a:solidFill>
          <a:ln w="12700">
            <a:solidFill>
              <a:srgbClr val="6FA3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40112" y="2002536"/>
            <a:ext cx="1261872" cy="978408"/>
          </a:xfrm>
          <a:prstGeom prst="rect">
            <a:avLst/>
          </a:prstGeom>
          <a:noFill/>
        </p:spPr>
        <p:txBody>
          <a:bodyPr wrap="square" anchor="t" lIns="0" rIns="0" tIns="0" bIns="0">
            <a:spAutoFit/>
          </a:bodyPr>
          <a:lstStyle/>
          <a:p>
            <a:pPr>
              <a:spcAft>
                <a:spcPts val="400"/>
              </a:spcAft>
            </a:pPr>
            <a:r>
              <a:rPr sz="1300" b="1">
                <a:solidFill>
                  <a:srgbClr val="6FA3F2"/>
                </a:solidFill>
                <a:latin typeface="Courier New"/>
              </a:rPr>
              <a:t>export_onnx</a:t>
            </a:r>
          </a:p>
          <a:p>
            <a:pPr>
              <a:spcAft>
                <a:spcPts val="400"/>
              </a:spcAft>
            </a:pPr>
            <a:r>
              <a:rPr sz="1400" b="0">
                <a:solidFill>
                  <a:srgbClr val="B9C2D6"/>
                </a:solidFill>
                <a:latin typeface="Calibri"/>
              </a:rPr>
              <a:t>One model, two heads</a:t>
            </a:r>
          </a:p>
        </p:txBody>
      </p:sp>
      <p:sp>
        <p:nvSpPr>
          <p:cNvPr id="19" name="TextBox 18"/>
          <p:cNvSpPr txBox="1"/>
          <p:nvPr/>
        </p:nvSpPr>
        <p:spPr>
          <a:xfrm>
            <a:off x="813816" y="3566160"/>
            <a:ext cx="1280160" cy="731520"/>
          </a:xfrm>
          <a:prstGeom prst="rect">
            <a:avLst/>
          </a:prstGeom>
          <a:noFill/>
        </p:spPr>
        <p:txBody>
          <a:bodyPr wrap="square" anchor="t" lIns="0" rIns="0" tIns="0" bIns="0">
            <a:spAutoFit/>
          </a:bodyPr>
          <a:lstStyle/>
          <a:p>
            <a:pPr>
              <a:spcAft>
                <a:spcPts val="200"/>
              </a:spcAft>
            </a:pPr>
            <a:r>
              <a:rPr sz="2000" b="1">
                <a:solidFill>
                  <a:srgbClr val="6FA3F2"/>
                </a:solidFill>
                <a:latin typeface="Calibri"/>
              </a:rPr>
              <a:t>Online</a:t>
            </a:r>
          </a:p>
          <a:p>
            <a:pPr>
              <a:spcAft>
                <a:spcPts val="400"/>
              </a:spcAft>
            </a:pPr>
            <a:r>
              <a:rPr sz="1200" b="0">
                <a:solidFill>
                  <a:srgbClr val="B9C2D6"/>
                </a:solidFill>
                <a:latin typeface="Calibri"/>
              </a:rPr>
              <a:t>Streamlit app</a:t>
            </a:r>
          </a:p>
        </p:txBody>
      </p:sp>
      <p:sp>
        <p:nvSpPr>
          <p:cNvPr id="20" name="Rounded Rectangle 19"/>
          <p:cNvSpPr/>
          <p:nvPr/>
        </p:nvSpPr>
        <p:spPr>
          <a:xfrm>
            <a:off x="2194560" y="3337560"/>
            <a:ext cx="1517904" cy="1234440"/>
          </a:xfrm>
          <a:prstGeom prst="roundRect">
            <a:avLst>
              <a:gd name="adj" fmla="val 8000"/>
            </a:avLst>
          </a:prstGeom>
          <a:solidFill>
            <a:srgbClr val="1C2540"/>
          </a:solidFill>
          <a:ln w="12700">
            <a:solidFill>
              <a:srgbClr val="2E3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22576" y="3465576"/>
            <a:ext cx="1261872" cy="978408"/>
          </a:xfrm>
          <a:prstGeom prst="rect">
            <a:avLst/>
          </a:prstGeom>
          <a:noFill/>
        </p:spPr>
        <p:txBody>
          <a:bodyPr wrap="square" anchor="t" lIns="0" rIns="0" tIns="0" bIns="0">
            <a:spAutoFit/>
          </a:bodyPr>
          <a:lstStyle/>
          <a:p>
            <a:pPr>
              <a:spcAft>
                <a:spcPts val="400"/>
              </a:spcAft>
            </a:pPr>
            <a:r>
              <a:rPr sz="1300" b="1">
                <a:solidFill>
                  <a:srgbClr val="EEF0F5"/>
                </a:solidFill>
                <a:latin typeface="Courier New"/>
              </a:rPr>
              <a:t>Inputs</a:t>
            </a:r>
          </a:p>
          <a:p>
            <a:pPr>
              <a:spcAft>
                <a:spcPts val="400"/>
              </a:spcAft>
            </a:pPr>
            <a:r>
              <a:rPr sz="1400" b="0">
                <a:solidFill>
                  <a:srgbClr val="B9C2D6"/>
                </a:solidFill>
                <a:latin typeface="Calibri"/>
              </a:rPr>
              <a:t>CV PDF/TXT, job text</a:t>
            </a:r>
          </a:p>
        </p:txBody>
      </p:sp>
      <p:sp>
        <p:nvSpPr>
          <p:cNvPr id="22" name="Right Arrow 21"/>
          <p:cNvSpPr/>
          <p:nvPr/>
        </p:nvSpPr>
        <p:spPr>
          <a:xfrm>
            <a:off x="3790187" y="3881628"/>
            <a:ext cx="256032" cy="146304"/>
          </a:xfrm>
          <a:prstGeom prst="rightArrow">
            <a:avLst/>
          </a:prstGeom>
          <a:solidFill>
            <a:srgbClr val="5B6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123944" y="3337560"/>
            <a:ext cx="1517904" cy="1234440"/>
          </a:xfrm>
          <a:prstGeom prst="roundRect">
            <a:avLst>
              <a:gd name="adj" fmla="val 8000"/>
            </a:avLst>
          </a:prstGeom>
          <a:solidFill>
            <a:srgbClr val="1C2540"/>
          </a:solidFill>
          <a:ln w="12700">
            <a:solidFill>
              <a:srgbClr val="2E3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51959" y="3465576"/>
            <a:ext cx="1261872" cy="978408"/>
          </a:xfrm>
          <a:prstGeom prst="rect">
            <a:avLst/>
          </a:prstGeom>
          <a:noFill/>
        </p:spPr>
        <p:txBody>
          <a:bodyPr wrap="square" anchor="t" lIns="0" rIns="0" tIns="0" bIns="0">
            <a:spAutoFit/>
          </a:bodyPr>
          <a:lstStyle/>
          <a:p>
            <a:pPr>
              <a:spcAft>
                <a:spcPts val="400"/>
              </a:spcAft>
            </a:pPr>
            <a:r>
              <a:rPr sz="1300" b="1">
                <a:solidFill>
                  <a:srgbClr val="EEF0F5"/>
                </a:solidFill>
                <a:latin typeface="Courier New"/>
              </a:rPr>
              <a:t>Prepare</a:t>
            </a:r>
          </a:p>
          <a:p>
            <a:pPr>
              <a:spcAft>
                <a:spcPts val="400"/>
              </a:spcAft>
            </a:pPr>
            <a:r>
              <a:rPr sz="1400" b="0">
                <a:solidFill>
                  <a:srgbClr val="B9C2D6"/>
                </a:solidFill>
                <a:latin typeface="Calibri"/>
              </a:rPr>
              <a:t>Chunk + 6 what-if twins</a:t>
            </a:r>
          </a:p>
        </p:txBody>
      </p:sp>
      <p:sp>
        <p:nvSpPr>
          <p:cNvPr id="25" name="Right Arrow 24"/>
          <p:cNvSpPr/>
          <p:nvPr/>
        </p:nvSpPr>
        <p:spPr>
          <a:xfrm>
            <a:off x="5719572" y="3881628"/>
            <a:ext cx="256032" cy="146304"/>
          </a:xfrm>
          <a:prstGeom prst="rightArrow">
            <a:avLst/>
          </a:prstGeom>
          <a:solidFill>
            <a:srgbClr val="5B6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53327" y="3337560"/>
            <a:ext cx="1517904" cy="1234440"/>
          </a:xfrm>
          <a:prstGeom prst="roundRect">
            <a:avLst>
              <a:gd name="adj" fmla="val 8000"/>
            </a:avLst>
          </a:prstGeom>
          <a:solidFill>
            <a:srgbClr val="1C2540"/>
          </a:solidFill>
          <a:ln w="12700">
            <a:solidFill>
              <a:srgbClr val="6FA3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1343" y="3465576"/>
            <a:ext cx="1261872" cy="978408"/>
          </a:xfrm>
          <a:prstGeom prst="rect">
            <a:avLst/>
          </a:prstGeom>
          <a:noFill/>
        </p:spPr>
        <p:txBody>
          <a:bodyPr wrap="square" anchor="t" lIns="0" rIns="0" tIns="0" bIns="0">
            <a:spAutoFit/>
          </a:bodyPr>
          <a:lstStyle/>
          <a:p>
            <a:pPr>
              <a:spcAft>
                <a:spcPts val="400"/>
              </a:spcAft>
            </a:pPr>
            <a:r>
              <a:rPr sz="1300" b="1">
                <a:solidFill>
                  <a:srgbClr val="6FA3F2"/>
                </a:solidFill>
                <a:latin typeface="Courier New"/>
              </a:rPr>
              <a:t>ONNX</a:t>
            </a:r>
          </a:p>
          <a:p>
            <a:pPr>
              <a:spcAft>
                <a:spcPts val="400"/>
              </a:spcAft>
            </a:pPr>
            <a:r>
              <a:rPr sz="1400" b="0">
                <a:solidFill>
                  <a:srgbClr val="B9C2D6"/>
                </a:solidFill>
                <a:latin typeface="Calibri"/>
              </a:rPr>
              <a:t>MiniLM + LEACE, 91 MB</a:t>
            </a:r>
          </a:p>
        </p:txBody>
      </p:sp>
      <p:sp>
        <p:nvSpPr>
          <p:cNvPr id="28" name="Right Arrow 27"/>
          <p:cNvSpPr/>
          <p:nvPr/>
        </p:nvSpPr>
        <p:spPr>
          <a:xfrm>
            <a:off x="7648956" y="3881628"/>
            <a:ext cx="256032" cy="146304"/>
          </a:xfrm>
          <a:prstGeom prst="rightArrow">
            <a:avLst/>
          </a:prstGeom>
          <a:solidFill>
            <a:srgbClr val="5B6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982712" y="3337560"/>
            <a:ext cx="1517904" cy="1234440"/>
          </a:xfrm>
          <a:prstGeom prst="roundRect">
            <a:avLst>
              <a:gd name="adj" fmla="val 8000"/>
            </a:avLst>
          </a:prstGeom>
          <a:solidFill>
            <a:srgbClr val="1C2540"/>
          </a:solidFill>
          <a:ln w="12700">
            <a:solidFill>
              <a:srgbClr val="2E3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10728" y="3465576"/>
            <a:ext cx="1261872" cy="978408"/>
          </a:xfrm>
          <a:prstGeom prst="rect">
            <a:avLst/>
          </a:prstGeom>
          <a:noFill/>
        </p:spPr>
        <p:txBody>
          <a:bodyPr wrap="square" anchor="t" lIns="0" rIns="0" tIns="0" bIns="0">
            <a:spAutoFit/>
          </a:bodyPr>
          <a:lstStyle/>
          <a:p>
            <a:pPr>
              <a:spcAft>
                <a:spcPts val="400"/>
              </a:spcAft>
            </a:pPr>
            <a:r>
              <a:rPr sz="1300" b="1">
                <a:solidFill>
                  <a:srgbClr val="EEF0F5"/>
                </a:solidFill>
                <a:latin typeface="Courier New"/>
              </a:rPr>
              <a:t>Decide</a:t>
            </a:r>
          </a:p>
          <a:p>
            <a:pPr>
              <a:spcAft>
                <a:spcPts val="400"/>
              </a:spcAft>
            </a:pPr>
            <a:r>
              <a:rPr sz="1400" b="0">
                <a:solidFill>
                  <a:srgbClr val="B9C2D6"/>
                </a:solidFill>
                <a:latin typeface="Calibri"/>
              </a:rPr>
              <a:t>Cosine vs threshold</a:t>
            </a:r>
          </a:p>
        </p:txBody>
      </p:sp>
      <p:sp>
        <p:nvSpPr>
          <p:cNvPr id="31" name="Right Arrow 30"/>
          <p:cNvSpPr/>
          <p:nvPr/>
        </p:nvSpPr>
        <p:spPr>
          <a:xfrm>
            <a:off x="9578340" y="3881628"/>
            <a:ext cx="256032" cy="146304"/>
          </a:xfrm>
          <a:prstGeom prst="rightArrow">
            <a:avLst/>
          </a:prstGeom>
          <a:solidFill>
            <a:srgbClr val="5B6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912096" y="3337560"/>
            <a:ext cx="1517904" cy="1234440"/>
          </a:xfrm>
          <a:prstGeom prst="roundRect">
            <a:avLst>
              <a:gd name="adj" fmla="val 8000"/>
            </a:avLst>
          </a:prstGeom>
          <a:solidFill>
            <a:srgbClr val="1C2540"/>
          </a:solidFill>
          <a:ln w="12700">
            <a:solidFill>
              <a:srgbClr val="2E3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40112" y="3465576"/>
            <a:ext cx="1261872" cy="978408"/>
          </a:xfrm>
          <a:prstGeom prst="rect">
            <a:avLst/>
          </a:prstGeom>
          <a:noFill/>
        </p:spPr>
        <p:txBody>
          <a:bodyPr wrap="square" anchor="t" lIns="0" rIns="0" tIns="0" bIns="0">
            <a:spAutoFit/>
          </a:bodyPr>
          <a:lstStyle/>
          <a:p>
            <a:pPr>
              <a:spcAft>
                <a:spcPts val="400"/>
              </a:spcAft>
            </a:pPr>
            <a:r>
              <a:rPr sz="1300" b="1">
                <a:solidFill>
                  <a:srgbClr val="EEF0F5"/>
                </a:solidFill>
                <a:latin typeface="Courier New"/>
              </a:rPr>
              <a:t>Show</a:t>
            </a:r>
          </a:p>
          <a:p>
            <a:pPr>
              <a:spcAft>
                <a:spcPts val="400"/>
              </a:spcAft>
            </a:pPr>
            <a:r>
              <a:rPr sz="1400" b="0">
                <a:solidFill>
                  <a:srgbClr val="B9C2D6"/>
                </a:solidFill>
                <a:latin typeface="Calibri"/>
              </a:rPr>
              <a:t>Before vs After, bias flag</a:t>
            </a:r>
          </a:p>
        </p:txBody>
      </p:sp>
      <p:sp>
        <p:nvSpPr>
          <p:cNvPr id="34" name="Rounded Rectangle 33"/>
          <p:cNvSpPr/>
          <p:nvPr/>
        </p:nvSpPr>
        <p:spPr>
          <a:xfrm>
            <a:off x="813816" y="4892040"/>
            <a:ext cx="3337560" cy="1188720"/>
          </a:xfrm>
          <a:prstGeom prst="roundRect">
            <a:avLst>
              <a:gd name="adj" fmla="val 8000"/>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69848" y="5074920"/>
            <a:ext cx="2825496" cy="822960"/>
          </a:xfrm>
          <a:prstGeom prst="rect">
            <a:avLst/>
          </a:prstGeom>
          <a:noFill/>
        </p:spPr>
        <p:txBody>
          <a:bodyPr wrap="square" anchor="t" lIns="0" rIns="0" tIns="0" bIns="0">
            <a:spAutoFit/>
          </a:bodyPr>
          <a:lstStyle/>
          <a:p>
            <a:pPr>
              <a:spcAft>
                <a:spcPts val="400"/>
              </a:spcAft>
            </a:pPr>
            <a:r>
              <a:rPr sz="1400" b="0">
                <a:solidFill>
                  <a:srgbClr val="4A5163"/>
                </a:solidFill>
                <a:latin typeface="Calibri"/>
              </a:rPr>
              <a:t>Location flip rate</a:t>
            </a:r>
          </a:p>
          <a:p>
            <a:pPr>
              <a:spcAft>
                <a:spcPts val="400"/>
              </a:spcAft>
            </a:pPr>
            <a:r>
              <a:rPr sz="2800" b="1">
                <a:solidFill>
                  <a:srgbClr val="B9501E"/>
                </a:solidFill>
                <a:latin typeface="Calibri"/>
              </a:rPr>
              <a:t>15.3%</a:t>
            </a:r>
            <a:r>
              <a:rPr sz="2800" b="1">
                <a:solidFill>
                  <a:srgbClr val="12182B"/>
                </a:solidFill>
                <a:latin typeface="Calibri"/>
              </a:rPr>
              <a:t>  →  </a:t>
            </a:r>
            <a:r>
              <a:rPr sz="2800" b="1">
                <a:solidFill>
                  <a:srgbClr val="2563C9"/>
                </a:solidFill>
                <a:latin typeface="Calibri"/>
              </a:rPr>
              <a:t>10.4%</a:t>
            </a:r>
          </a:p>
        </p:txBody>
      </p:sp>
      <p:sp>
        <p:nvSpPr>
          <p:cNvPr id="36" name="Rounded Rectangle 35"/>
          <p:cNvSpPr/>
          <p:nvPr/>
        </p:nvSpPr>
        <p:spPr>
          <a:xfrm>
            <a:off x="4425696" y="4892040"/>
            <a:ext cx="3337560" cy="1188720"/>
          </a:xfrm>
          <a:prstGeom prst="roundRect">
            <a:avLst>
              <a:gd name="adj" fmla="val 8000"/>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81728" y="5074920"/>
            <a:ext cx="2825496" cy="822960"/>
          </a:xfrm>
          <a:prstGeom prst="rect">
            <a:avLst/>
          </a:prstGeom>
          <a:noFill/>
        </p:spPr>
        <p:txBody>
          <a:bodyPr wrap="square" anchor="t" lIns="0" rIns="0" tIns="0" bIns="0">
            <a:spAutoFit/>
          </a:bodyPr>
          <a:lstStyle/>
          <a:p>
            <a:pPr>
              <a:spcAft>
                <a:spcPts val="400"/>
              </a:spcAft>
            </a:pPr>
            <a:r>
              <a:rPr sz="1400" b="0">
                <a:solidFill>
                  <a:srgbClr val="4A5163"/>
                </a:solidFill>
                <a:latin typeface="Calibri"/>
              </a:rPr>
              <a:t>Impact ratio (≥ 0.80 is fair)</a:t>
            </a:r>
          </a:p>
          <a:p>
            <a:pPr>
              <a:spcAft>
                <a:spcPts val="400"/>
              </a:spcAft>
            </a:pPr>
            <a:r>
              <a:rPr sz="2800" b="1">
                <a:solidFill>
                  <a:srgbClr val="B9501E"/>
                </a:solidFill>
                <a:latin typeface="Calibri"/>
              </a:rPr>
              <a:t>0.85</a:t>
            </a:r>
            <a:r>
              <a:rPr sz="2800" b="1">
                <a:solidFill>
                  <a:srgbClr val="12182B"/>
                </a:solidFill>
                <a:latin typeface="Calibri"/>
              </a:rPr>
              <a:t>  →  </a:t>
            </a:r>
            <a:r>
              <a:rPr sz="2800" b="1">
                <a:solidFill>
                  <a:srgbClr val="2563C9"/>
                </a:solidFill>
                <a:latin typeface="Calibri"/>
              </a:rPr>
              <a:t>0.92</a:t>
            </a:r>
          </a:p>
        </p:txBody>
      </p:sp>
      <p:sp>
        <p:nvSpPr>
          <p:cNvPr id="38" name="Rounded Rectangle 37"/>
          <p:cNvSpPr/>
          <p:nvPr/>
        </p:nvSpPr>
        <p:spPr>
          <a:xfrm>
            <a:off x="8037575" y="4892040"/>
            <a:ext cx="3337560" cy="1188720"/>
          </a:xfrm>
          <a:prstGeom prst="roundRect">
            <a:avLst>
              <a:gd name="adj" fmla="val 8000"/>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93607" y="5074920"/>
            <a:ext cx="2825496" cy="822960"/>
          </a:xfrm>
          <a:prstGeom prst="rect">
            <a:avLst/>
          </a:prstGeom>
          <a:noFill/>
        </p:spPr>
        <p:txBody>
          <a:bodyPr wrap="square" anchor="t" lIns="0" rIns="0" tIns="0" bIns="0">
            <a:spAutoFit/>
          </a:bodyPr>
          <a:lstStyle/>
          <a:p>
            <a:pPr>
              <a:spcAft>
                <a:spcPts val="400"/>
              </a:spcAft>
            </a:pPr>
            <a:r>
              <a:rPr sz="1400" b="0">
                <a:solidFill>
                  <a:srgbClr val="4A5163"/>
                </a:solidFill>
                <a:latin typeface="Calibri"/>
              </a:rPr>
              <a:t>Matching AUC (kept)</a:t>
            </a:r>
          </a:p>
          <a:p>
            <a:pPr>
              <a:spcAft>
                <a:spcPts val="400"/>
              </a:spcAft>
            </a:pPr>
            <a:r>
              <a:rPr sz="2800" b="1">
                <a:solidFill>
                  <a:srgbClr val="B9501E"/>
                </a:solidFill>
                <a:latin typeface="Calibri"/>
              </a:rPr>
              <a:t>0.784</a:t>
            </a:r>
            <a:r>
              <a:rPr sz="2800" b="1">
                <a:solidFill>
                  <a:srgbClr val="12182B"/>
                </a:solidFill>
                <a:latin typeface="Calibri"/>
              </a:rPr>
              <a:t>  →  </a:t>
            </a:r>
            <a:r>
              <a:rPr sz="2800" b="1">
                <a:solidFill>
                  <a:srgbClr val="2563C9"/>
                </a:solidFill>
                <a:latin typeface="Calibri"/>
              </a:rPr>
              <a:t>0.780</a:t>
            </a:r>
          </a:p>
        </p:txBody>
      </p:sp>
      <p:sp>
        <p:nvSpPr>
          <p:cNvPr id="40" name="TextBox 39"/>
          <p:cNvSpPr txBox="1"/>
          <p:nvPr/>
        </p:nvSpPr>
        <p:spPr>
          <a:xfrm>
            <a:off x="813816" y="6291072"/>
            <a:ext cx="10607040" cy="274320"/>
          </a:xfrm>
          <a:prstGeom prst="rect">
            <a:avLst/>
          </a:prstGeom>
          <a:noFill/>
        </p:spPr>
        <p:txBody>
          <a:bodyPr wrap="square" anchor="t" lIns="0" rIns="0" tIns="0" bIns="0">
            <a:spAutoFit/>
          </a:bodyPr>
          <a:lstStyle/>
          <a:p>
            <a:pPr>
              <a:spcAft>
                <a:spcPts val="400"/>
              </a:spcAft>
            </a:pPr>
            <a:r>
              <a:rPr sz="1100" b="0">
                <a:solidFill>
                  <a:srgbClr val="8C96AD"/>
                </a:solidFill>
                <a:latin typeface="Calibri"/>
              </a:rPr>
              <a:t>Orange = original model (before) · Blue = debiased model (after) · RASK-bias · 2 /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RASK Bias Screener</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